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dia_1792686351561_82afeaf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023360" cy="40233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212080" y="1051560"/>
            <a:ext cx="5486400" cy="384048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E5FF"/>
                </a:solidFill>
                <a:latin typeface="Segoe UI"/>
              </a:rPr>
              <a:t>TRABAJO PRÁCTICO INTEGRADOR | IFTS Nº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0" y="155448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PROYECTO CROCSCALE IA</a:t>
            </a:r>
          </a:p>
          <a:p>
            <a:r>
              <a:rPr sz="1700" b="1">
                <a:solidFill>
                  <a:srgbClr val="9D4EDD"/>
                </a:solidFill>
                <a:latin typeface="Segoe UI"/>
              </a:rPr>
              <a:t>AI-Sales Engine: Lead Scoring, Predicción de Churn y Validación Multimodal de Pagos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3291840"/>
            <a:ext cx="6309360" cy="29260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200" b="1">
                <a:solidFill>
                  <a:srgbClr val="00E5FF"/>
                </a:solidFill>
                <a:latin typeface="Segoe UI"/>
              </a:rPr>
              <a:t>Estudiante: </a:t>
            </a:r>
            <a:r>
              <a:rPr sz="1200">
                <a:solidFill>
                  <a:srgbClr val="E2E8F0"/>
                </a:solidFill>
                <a:latin typeface="Segoe UI"/>
              </a:rPr>
              <a:t>Nicolás Marcelo Galarza Vázquez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00E5FF"/>
                </a:solidFill>
                <a:latin typeface="Segoe UI"/>
              </a:rPr>
              <a:t>Carrera: </a:t>
            </a:r>
            <a:r>
              <a:rPr sz="1200">
                <a:solidFill>
                  <a:srgbClr val="E2E8F0"/>
                </a:solidFill>
                <a:latin typeface="Segoe UI"/>
              </a:rPr>
              <a:t>Tecnicatura Superior en Ciencia de Datos e Inteligencia Artificial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00E5FF"/>
                </a:solidFill>
                <a:latin typeface="Segoe UI"/>
              </a:rPr>
              <a:t>Asignatura: </a:t>
            </a:r>
            <a:r>
              <a:rPr sz="1200">
                <a:solidFill>
                  <a:srgbClr val="E2E8F0"/>
                </a:solidFill>
                <a:latin typeface="Segoe UI"/>
              </a:rPr>
              <a:t>Aproximación al Campo Laboral (Práctica Profesionalizante 1)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00E5FF"/>
                </a:solidFill>
                <a:latin typeface="Segoe UI"/>
              </a:rPr>
              <a:t>Docente: </a:t>
            </a:r>
            <a:r>
              <a:rPr sz="1200">
                <a:solidFill>
                  <a:srgbClr val="E2E8F0"/>
                </a:solidFill>
                <a:latin typeface="Segoe UI"/>
              </a:rPr>
              <a:t>Prof. Geronimo Gabriela Natalia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00E5FF"/>
                </a:solidFill>
                <a:latin typeface="Segoe UI"/>
              </a:rPr>
              <a:t>Año / Cuatrimestre: </a:t>
            </a:r>
            <a:r>
              <a:rPr sz="1200">
                <a:solidFill>
                  <a:srgbClr val="E2E8F0"/>
                </a:solidFill>
                <a:latin typeface="Segoe UI"/>
              </a:rPr>
              <a:t>2026 – 2º Cuatrimestre | IFTS Nº 24 — CABA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00E5FF"/>
                </a:solidFill>
                <a:latin typeface="Segoe UI"/>
              </a:rPr>
              <a:t>Ecosistema Web: </a:t>
            </a:r>
            <a:r>
              <a:rPr sz="1200">
                <a:solidFill>
                  <a:srgbClr val="E2E8F0"/>
                </a:solidFill>
                <a:latin typeface="Segoe UI"/>
              </a:rPr>
              <a:t>https://crocscale.com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572000" cy="3657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E5FF"/>
                </a:solidFill>
                <a:latin typeface="Segoe UI"/>
              </a:rPr>
              <a:t>1. ORGANIZACIÓN SELECCIONADA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"/>
              </a:rPr>
              <a:t>CrocScale IA: Arquitectura y Modelo de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94A3B8"/>
                </a:solidFill>
                <a:latin typeface="Segoe UI"/>
              </a:rPr>
              <a:t>Startup tecnológica de automatización conversacional y analítica predictiva B2B</a:t>
            </a:r>
          </a:p>
        </p:txBody>
      </p:sp>
      <p:pic>
        <p:nvPicPr>
          <p:cNvPr id="6" name="Picture 5" descr="media_1792686351561_82afeaf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868680" cy="868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719072"/>
            <a:ext cx="3401568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</a:pPr>
            <a:r>
              <a:rPr sz="1800" b="1">
                <a:solidFill>
                  <a:srgbClr val="00E5FF"/>
                </a:solidFill>
                <a:latin typeface="Segoe UI"/>
              </a:rPr>
              <a:t>SaaS &amp; AI Agency B2B</a:t>
            </a:r>
          </a:p>
          <a:p>
            <a:pPr>
              <a:spcBef>
                <a:spcPts val="1000"/>
              </a:spcBef>
            </a:pPr>
            <a:r>
              <a:rPr sz="1250" b="1">
                <a:solidFill>
                  <a:srgbClr val="FFFFFF"/>
                </a:solidFill>
                <a:latin typeface="Segoe UI"/>
              </a:rPr>
              <a:t>Propuesta Central: </a:t>
            </a:r>
            <a:r>
              <a:rPr sz="1200">
                <a:solidFill>
                  <a:srgbClr val="E2E8F0"/>
                </a:solidFill>
                <a:latin typeface="Segoe UI"/>
              </a:rPr>
              <a:t>Automatización omnicanal de WhatsApp, Instagram y Facebook eliminando cuellos de botella.</a:t>
            </a:r>
          </a:p>
          <a:p>
            <a:pPr>
              <a:spcBef>
                <a:spcPts val="1000"/>
              </a:spcBef>
            </a:pPr>
            <a:r>
              <a:rPr sz="1250" b="1">
                <a:solidFill>
                  <a:srgbClr val="FFFFFF"/>
                </a:solidFill>
                <a:latin typeface="Segoe UI"/>
              </a:rPr>
              <a:t>Diferencial Clave: </a:t>
            </a:r>
            <a:r>
              <a:rPr sz="1200">
                <a:solidFill>
                  <a:srgbClr val="E2E8F0"/>
                </a:solidFill>
                <a:latin typeface="Segoe UI"/>
              </a:rPr>
              <a:t>Puesta en marcha express en 24-48hs y tiempos de respuesta de 30 a 60 segundos.</a:t>
            </a:r>
          </a:p>
          <a:p>
            <a:pPr>
              <a:spcBef>
                <a:spcPts val="1000"/>
              </a:spcBef>
            </a:pPr>
            <a:r>
              <a:rPr sz="1250" b="1">
                <a:solidFill>
                  <a:srgbClr val="FFFFFF"/>
                </a:solidFill>
                <a:latin typeface="Segoe UI"/>
              </a:rPr>
              <a:t>Clientes Activos: </a:t>
            </a:r>
            <a:r>
              <a:rPr sz="1200">
                <a:solidFill>
                  <a:srgbClr val="E2E8F0"/>
                </a:solidFill>
                <a:latin typeface="Segoe UI"/>
              </a:rPr>
              <a:t>ADAR Insumos (Bazar/Ferretería), Bross Underwear (Moda masculina), Nacha Home, NNN Store.</a:t>
            </a:r>
          </a:p>
          <a:p>
            <a:pPr>
              <a:spcBef>
                <a:spcPts val="1000"/>
              </a:spcBef>
            </a:pPr>
            <a:r>
              <a:rPr sz="1250" b="1">
                <a:solidFill>
                  <a:srgbClr val="FFFFFF"/>
                </a:solidFill>
                <a:latin typeface="Segoe UI"/>
              </a:rPr>
              <a:t>Monetización: </a:t>
            </a:r>
            <a:r>
              <a:rPr sz="1200">
                <a:solidFill>
                  <a:srgbClr val="E2E8F0"/>
                </a:solidFill>
                <a:latin typeface="Segoe UI"/>
              </a:rPr>
              <a:t>Planes mensuales escalonados según volumen y canales, y gestión estratégica de Meta 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19072"/>
            <a:ext cx="3401568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</a:pPr>
            <a:r>
              <a:rPr sz="1800" b="1">
                <a:solidFill>
                  <a:srgbClr val="9D4EDD"/>
                </a:solidFill>
                <a:latin typeface="Segoe UI"/>
              </a:rPr>
              <a:t>Misión, Visión &amp; Valores</a:t>
            </a:r>
          </a:p>
          <a:p>
            <a:pPr>
              <a:spcBef>
                <a:spcPts val="1000"/>
              </a:spcBef>
            </a:pPr>
            <a:r>
              <a:rPr sz="1250" b="1">
                <a:solidFill>
                  <a:srgbClr val="FFFFFF"/>
                </a:solidFill>
                <a:latin typeface="Segoe UI"/>
              </a:rPr>
              <a:t>Misión: </a:t>
            </a:r>
            <a:r>
              <a:rPr sz="1200">
                <a:solidFill>
                  <a:srgbClr val="E2E8F0"/>
                </a:solidFill>
                <a:latin typeface="Segoe UI"/>
              </a:rPr>
              <a:t>Democratizar el acceso a la IA conversacional y analítica avanzada para pymes, convirtiendo chats en ventas medibles.</a:t>
            </a:r>
          </a:p>
          <a:p>
            <a:pPr>
              <a:spcBef>
                <a:spcPts val="1000"/>
              </a:spcBef>
            </a:pPr>
            <a:r>
              <a:rPr sz="1250" b="1">
                <a:solidFill>
                  <a:srgbClr val="FFFFFF"/>
                </a:solidFill>
                <a:latin typeface="Segoe UI"/>
              </a:rPr>
              <a:t>Visión 2030: </a:t>
            </a:r>
            <a:r>
              <a:rPr sz="1200">
                <a:solidFill>
                  <a:srgbClr val="E2E8F0"/>
                </a:solidFill>
                <a:latin typeface="Segoe UI"/>
              </a:rPr>
              <a:t>Ser la plataforma de referencia regional en Latinoamérica para ecosistemas comerciales autónomos.</a:t>
            </a:r>
          </a:p>
          <a:p>
            <a:pPr>
              <a:spcBef>
                <a:spcPts val="1000"/>
              </a:spcBef>
            </a:pPr>
            <a:r>
              <a:rPr sz="1250" b="1">
                <a:solidFill>
                  <a:srgbClr val="FFFFFF"/>
                </a:solidFill>
                <a:latin typeface="Segoe UI"/>
              </a:rPr>
              <a:t>Valores Clave:
</a:t>
            </a:r>
            <a:r>
              <a:rPr sz="1200">
                <a:solidFill>
                  <a:srgbClr val="E2E8F0"/>
                </a:solidFill>
                <a:latin typeface="Segoe UI"/>
              </a:rPr>
              <a:t>• Agilidad con enfoque práctico (ROI directo).
• Coherencia y ética en el manejo de datos.
• Frame Control y empatía comercial.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19072"/>
            <a:ext cx="3401568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</a:pPr>
            <a:r>
              <a:rPr sz="1800" b="1">
                <a:solidFill>
                  <a:srgbClr val="10B981"/>
                </a:solidFill>
                <a:latin typeface="Segoe UI"/>
              </a:rPr>
              <a:t>Stack Tecnológico Productivo</a:t>
            </a:r>
          </a:p>
          <a:p>
            <a:pPr>
              <a:spcBef>
                <a:spcPts val="1000"/>
              </a:spcBef>
            </a:pPr>
            <a:r>
              <a:rPr sz="1250" b="1">
                <a:solidFill>
                  <a:srgbClr val="FFFFFF"/>
                </a:solidFill>
                <a:latin typeface="Segoe UI"/>
              </a:rPr>
              <a:t>Orquestación Cloud: </a:t>
            </a:r>
            <a:r>
              <a:rPr sz="1200">
                <a:solidFill>
                  <a:srgbClr val="E2E8F0"/>
                </a:solidFill>
                <a:latin typeface="Segoe UI"/>
              </a:rPr>
              <a:t>Instancias auto-hospedadas de n8n desplegadas sobre VPS con Easypanel.</a:t>
            </a:r>
          </a:p>
          <a:p>
            <a:pPr>
              <a:spcBef>
                <a:spcPts val="1000"/>
              </a:spcBef>
            </a:pPr>
            <a:r>
              <a:rPr sz="1250" b="1">
                <a:solidFill>
                  <a:srgbClr val="FFFFFF"/>
                </a:solidFill>
                <a:latin typeface="Segoe UI"/>
              </a:rPr>
              <a:t>Gestión de Estado: </a:t>
            </a:r>
            <a:r>
              <a:rPr sz="1200">
                <a:solidFill>
                  <a:srgbClr val="E2E8F0"/>
                </a:solidFill>
                <a:latin typeface="Segoe UI"/>
              </a:rPr>
              <a:t>Redis en memoria para buffers anti-colisión y ventanas conversacionales en tiempo real.</a:t>
            </a:r>
          </a:p>
          <a:p>
            <a:pPr>
              <a:spcBef>
                <a:spcPts val="1000"/>
              </a:spcBef>
            </a:pPr>
            <a:r>
              <a:rPr sz="1250" b="1">
                <a:solidFill>
                  <a:srgbClr val="FFFFFF"/>
                </a:solidFill>
                <a:latin typeface="Segoe UI"/>
              </a:rPr>
              <a:t>Persistencia de Datos: </a:t>
            </a:r>
            <a:r>
              <a:rPr sz="1200">
                <a:solidFill>
                  <a:srgbClr val="E2E8F0"/>
                </a:solidFill>
                <a:latin typeface="Segoe UI"/>
              </a:rPr>
              <a:t>Supabase (PostgreSQL relacional) con tablas `n8n_chat_histories`, órdenes y clientes.</a:t>
            </a:r>
          </a:p>
          <a:p>
            <a:pPr>
              <a:spcBef>
                <a:spcPts val="1000"/>
              </a:spcBef>
            </a:pPr>
            <a:r>
              <a:rPr sz="1250" b="1">
                <a:solidFill>
                  <a:srgbClr val="FFFFFF"/>
                </a:solidFill>
                <a:latin typeface="Segoe UI"/>
              </a:rPr>
              <a:t>Modelos de Lenguaje &amp; Visión: </a:t>
            </a:r>
            <a:r>
              <a:rPr sz="1200">
                <a:solidFill>
                  <a:srgbClr val="E2E8F0"/>
                </a:solidFill>
                <a:latin typeface="Segoe UI"/>
              </a:rPr>
              <a:t>Anthropic Claude, OpenAI y DeepSeek vía LiteLLM.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572000" cy="3657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E5FF"/>
                </a:solidFill>
                <a:latin typeface="Segoe UI"/>
              </a:rPr>
              <a:t>2. DIAGNÓSTICO OPERATIVO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"/>
              </a:rPr>
              <a:t>Problemática: El Cuello de Botella de los Datos No Estructurados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94A3B8"/>
                </a:solidFill>
                <a:latin typeface="Segoe UI"/>
              </a:rPr>
              <a:t>La falta de procesamiento analítico en canales de chat genera fuga masiva de ventas y saturación</a:t>
            </a:r>
          </a:p>
        </p:txBody>
      </p:sp>
      <p:pic>
        <p:nvPicPr>
          <p:cNvPr id="6" name="Picture 5" descr="media_1792686351561_82afeaf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868680" cy="868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719072"/>
            <a:ext cx="3401568" cy="4572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874519"/>
            <a:ext cx="685800" cy="475488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A0F1D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2880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"/>
              </a:rPr>
              <a:t>Fuga de Ventas por Latencia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560320"/>
            <a:ext cx="3035808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i="1">
                <a:solidFill>
                  <a:srgbClr val="00E5FF"/>
                </a:solidFill>
                <a:latin typeface="Segoe UI"/>
              </a:rPr>
              <a:t>“El 70% de las ventas online se pierden por falta de respuesta inmediata en WhatsApp.”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303580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300">
                <a:solidFill>
                  <a:srgbClr val="00E5FF"/>
                </a:solidFill>
              </a:rPr>
              <a:t>• </a:t>
            </a:r>
            <a:r>
              <a:rPr sz="1150">
                <a:solidFill>
                  <a:srgbClr val="E2E8F0"/>
                </a:solidFill>
                <a:latin typeface="Segoe UI"/>
              </a:rPr>
              <a:t>Prospectos calientes que consultan fuera de horario y compran en la competencia si no reciben respuesta al instante.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00E5FF"/>
                </a:solidFill>
              </a:rPr>
              <a:t>• </a:t>
            </a:r>
            <a:r>
              <a:rPr sz="1150">
                <a:solidFill>
                  <a:srgbClr val="E2E8F0"/>
                </a:solidFill>
                <a:latin typeface="Segoe UI"/>
              </a:rPr>
              <a:t>Atención reactiva: vendedores atendiendo en orden de llegada sin saber quién tiene mayor intención de compra.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00E5FF"/>
                </a:solidFill>
              </a:rPr>
              <a:t>• </a:t>
            </a:r>
            <a:r>
              <a:rPr sz="1150">
                <a:solidFill>
                  <a:srgbClr val="E2E8F0"/>
                </a:solidFill>
                <a:latin typeface="Segoe UI"/>
              </a:rPr>
              <a:t>Sobrecarga del personal respondiendo consultas repetitivas de stock y listas de precios.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19072"/>
            <a:ext cx="3401568" cy="4572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1874519"/>
            <a:ext cx="685800" cy="475488"/>
          </a:xfrm>
          <a:prstGeom prst="roundRect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A0F1D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182880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"/>
              </a:rPr>
              <a:t>Ceguera de Datos en Chats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560320"/>
            <a:ext cx="3035808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i="1">
                <a:solidFill>
                  <a:srgbClr val="9D4EDD"/>
                </a:solidFill>
                <a:latin typeface="Segoe UI"/>
              </a:rPr>
              <a:t>“Gran volumen de datos conversacionales se almacenan como texto libre sin explotación sistemática.”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03320"/>
            <a:ext cx="303580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300">
                <a:solidFill>
                  <a:srgbClr val="9D4EDD"/>
                </a:solidFill>
              </a:rPr>
              <a:t>• </a:t>
            </a:r>
            <a:r>
              <a:rPr sz="1150">
                <a:solidFill>
                  <a:srgbClr val="E2E8F0"/>
                </a:solidFill>
                <a:latin typeface="Segoe UI"/>
              </a:rPr>
              <a:t>Historiales de mensajes que no aportan métricas ni inteligencia de negocio accionable.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9D4EDD"/>
                </a:solidFill>
              </a:rPr>
              <a:t>• </a:t>
            </a:r>
            <a:r>
              <a:rPr sz="1150">
                <a:solidFill>
                  <a:srgbClr val="E2E8F0"/>
                </a:solidFill>
                <a:latin typeface="Segoe UI"/>
              </a:rPr>
              <a:t>Incapacidad de detectar señales tempranas de insatisfacción o desinterés (Churn Inadvertido).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9D4EDD"/>
                </a:solidFill>
              </a:rPr>
              <a:t>• </a:t>
            </a:r>
            <a:r>
              <a:rPr sz="1150">
                <a:solidFill>
                  <a:srgbClr val="E2E8F0"/>
                </a:solidFill>
                <a:latin typeface="Segoe UI"/>
              </a:rPr>
              <a:t>Falta de segmentación basada en comportamiento real de compra y ticket promedio.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719072"/>
            <a:ext cx="3401568" cy="4572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0" y="1874519"/>
            <a:ext cx="685800" cy="47548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A0F1D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182880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"/>
              </a:rPr>
              <a:t>Validación Manual de Pagos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560320"/>
            <a:ext cx="3035808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i="1">
                <a:solidFill>
                  <a:srgbClr val="10B981"/>
                </a:solidFill>
                <a:latin typeface="Segoe UI"/>
              </a:rPr>
              <a:t>“Comprobantes de pago y transferencias recibidos por WhatsApp verificados uno por uno.”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703320"/>
            <a:ext cx="303580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</a:rPr>
              <a:t>• </a:t>
            </a:r>
            <a:r>
              <a:rPr sz="1150">
                <a:solidFill>
                  <a:srgbClr val="E2E8F0"/>
                </a:solidFill>
                <a:latin typeface="Segoe UI"/>
              </a:rPr>
              <a:t>Demora de hasta 4 horas para cotejar si una transferencia impactó en la cuenta bancaria.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</a:rPr>
              <a:t>• </a:t>
            </a:r>
            <a:r>
              <a:rPr sz="1150">
                <a:solidFill>
                  <a:srgbClr val="E2E8F0"/>
                </a:solidFill>
                <a:latin typeface="Segoe UI"/>
              </a:rPr>
              <a:t>Vulnerabilidad ante comprobantes adulterados, editados o transferencias duplicadas.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</a:rPr>
              <a:t>• </a:t>
            </a:r>
            <a:r>
              <a:rPr sz="1150">
                <a:solidFill>
                  <a:srgbClr val="E2E8F0"/>
                </a:solidFill>
                <a:latin typeface="Segoe UI"/>
              </a:rPr>
              <a:t>Errores humanos en la verificación del 10% de seña obligatoria antes de armar el pedido.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572000" cy="3657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E5FF"/>
                </a:solidFill>
                <a:latin typeface="Segoe UI"/>
              </a:rPr>
              <a:t>3. PROYECTO INNOVADOR DE CIENCIA DE DATOS &amp;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"/>
              </a:rPr>
              <a:t>AI-Sales Engine: Arquitectura Predictiva &amp;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94A3B8"/>
                </a:solidFill>
                <a:latin typeface="Segoe UI"/>
              </a:rPr>
              <a:t>Sistema inteligente acoplado al CRM conversacional para potenciar la toma de decisiones comerciales</a:t>
            </a:r>
          </a:p>
        </p:txBody>
      </p:sp>
      <p:pic>
        <p:nvPicPr>
          <p:cNvPr id="6" name="Picture 5" descr="media_1792686351561_82afeaf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868680" cy="868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719072"/>
            <a:ext cx="3401568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E5FF"/>
                </a:solidFill>
                <a:latin typeface="Segoe UI"/>
              </a:rPr>
              <a:t>VISIÓN COMPUTACIONAL &amp; NLP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Agente Multimodal OCR &amp; Pagos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00E5FF"/>
                </a:solidFill>
                <a:latin typeface="Segoe UI"/>
              </a:rPr>
              <a:t>Ingesta de Comprobantes: </a:t>
            </a:r>
            <a:r>
              <a:rPr sz="1150">
                <a:solidFill>
                  <a:srgbClr val="E2E8F0"/>
                </a:solidFill>
                <a:latin typeface="Segoe UI"/>
              </a:rPr>
              <a:t>Procesa imágenes (JPG/PNG) y PDFs enviados por WhatsApp en tiempo real.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00E5FF"/>
                </a:solidFill>
                <a:latin typeface="Segoe UI"/>
              </a:rPr>
              <a:t>Extracción de Entidades: </a:t>
            </a:r>
            <a:r>
              <a:rPr sz="1150">
                <a:solidFill>
                  <a:srgbClr val="E2E8F0"/>
                </a:solidFill>
                <a:latin typeface="Segoe UI"/>
              </a:rPr>
              <a:t>Identifica con precisión monto, número de operación, CUIT/CVU y banco emisor.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00E5FF"/>
                </a:solidFill>
                <a:latin typeface="Segoe UI"/>
              </a:rPr>
              <a:t>Regla de Seña del 10%: </a:t>
            </a:r>
            <a:r>
              <a:rPr sz="1150">
                <a:solidFill>
                  <a:srgbClr val="E2E8F0"/>
                </a:solidFill>
                <a:latin typeface="Segoe UI"/>
              </a:rPr>
              <a:t>Valida algorítmicamente que cubra el 10% obligatorio antes de confirmar la orden a Supabase y Telegram.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00E5FF"/>
                </a:solidFill>
                <a:latin typeface="Segoe UI"/>
              </a:rPr>
              <a:t>Prevención de Fraudes: </a:t>
            </a:r>
            <a:r>
              <a:rPr sz="1150">
                <a:solidFill>
                  <a:srgbClr val="E2E8F0"/>
                </a:solidFill>
                <a:latin typeface="Segoe UI"/>
              </a:rPr>
              <a:t>Detección de duplicados y comprobantes adulterados mediante control de hashes.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19072"/>
            <a:ext cx="3401568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9D4EDD"/>
                </a:solidFill>
                <a:latin typeface="Segoe UI"/>
              </a:rPr>
              <a:t>MACHINE LEARNING SUPERVISADO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Predictive Lead Scoring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9D4EDD"/>
                </a:solidFill>
                <a:latin typeface="Segoe UI"/>
              </a:rPr>
              <a:t>Datos de Entrenamiento: </a:t>
            </a:r>
            <a:r>
              <a:rPr sz="1150">
                <a:solidFill>
                  <a:srgbClr val="E2E8F0"/>
                </a:solidFill>
                <a:latin typeface="Segoe UI"/>
              </a:rPr>
              <a:t>Estructuración analítica de la tabla `n8n_chat_histories`.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9D4EDD"/>
                </a:solidFill>
                <a:latin typeface="Segoe UI"/>
              </a:rPr>
              <a:t>Feature Engineering: </a:t>
            </a:r>
            <a:r>
              <a:rPr sz="1150">
                <a:solidFill>
                  <a:srgbClr val="E2E8F0"/>
                </a:solidFill>
                <a:latin typeface="Segoe UI"/>
              </a:rPr>
              <a:t>Frecuencia de mensajes, recencia, longitud de consulta, palabras clave de compra y ticket proyectado.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9D4EDD"/>
                </a:solidFill>
                <a:latin typeface="Segoe UI"/>
              </a:rPr>
              <a:t>Modelos Supervisados: </a:t>
            </a:r>
            <a:r>
              <a:rPr sz="1150">
                <a:solidFill>
                  <a:srgbClr val="E2E8F0"/>
                </a:solidFill>
                <a:latin typeface="Segoe UI"/>
              </a:rPr>
              <a:t>Clasificación con Scikit-Learn y XGBoost para asignar un puntaje (0 a 100) en tiempo real.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9D4EDD"/>
                </a:solidFill>
                <a:latin typeface="Segoe UI"/>
              </a:rPr>
              <a:t>Enrutamiento Dinámico: </a:t>
            </a:r>
            <a:r>
              <a:rPr sz="1150">
                <a:solidFill>
                  <a:srgbClr val="E2E8F0"/>
                </a:solidFill>
                <a:latin typeface="Segoe UI"/>
              </a:rPr>
              <a:t>Leads con puntaje &gt; 80 se derivan prioritariamente a los cerradores humanos.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19072"/>
            <a:ext cx="3401568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0B981"/>
                </a:solidFill>
                <a:latin typeface="Segoe UI"/>
              </a:rPr>
              <a:t>MODELADO PREDICTIVO DE NEGOCIO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Analítica de Churn &amp; Cross-Selling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0B981"/>
                </a:solidFill>
                <a:latin typeface="Segoe UI"/>
              </a:rPr>
              <a:t>Detección Temprana de Churn: </a:t>
            </a:r>
            <a:r>
              <a:rPr sz="1150">
                <a:solidFill>
                  <a:srgbClr val="E2E8F0"/>
                </a:solidFill>
                <a:latin typeface="Segoe UI"/>
              </a:rPr>
              <a:t>Algoritmo de alerta predictiva cuando un cliente recurrente disminuye su patrón de compra.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0B981"/>
                </a:solidFill>
                <a:latin typeface="Segoe UI"/>
              </a:rPr>
              <a:t>Motor de Cross-Selling: </a:t>
            </a:r>
            <a:r>
              <a:rPr sz="1150">
                <a:solidFill>
                  <a:srgbClr val="E2E8F0"/>
                </a:solidFill>
                <a:latin typeface="Segoe UI"/>
              </a:rPr>
              <a:t>Recomendación contextual de productos afines basada en reglas de asociación y canasta.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0B981"/>
                </a:solidFill>
                <a:latin typeface="Segoe UI"/>
              </a:rPr>
              <a:t>Dashboard en Tiempo Real: </a:t>
            </a:r>
            <a:r>
              <a:rPr sz="1150">
                <a:solidFill>
                  <a:srgbClr val="E2E8F0"/>
                </a:solidFill>
                <a:latin typeface="Segoe UI"/>
              </a:rPr>
              <a:t>Panel interactivo conectado a Supabase para visualización ejecutiva del pipeline.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0B981"/>
                </a:solidFill>
                <a:latin typeface="Segoe UI"/>
              </a:rPr>
              <a:t>Reactivación Automática: </a:t>
            </a:r>
            <a:r>
              <a:rPr sz="1150">
                <a:solidFill>
                  <a:srgbClr val="E2E8F0"/>
                </a:solidFill>
                <a:latin typeface="Segoe UI"/>
              </a:rPr>
              <a:t>Disparo de promociones segmentadas por webhook hacia n8n para retener clientes.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572000" cy="3657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E5FF"/>
                </a:solidFill>
                <a:latin typeface="Segoe UI"/>
              </a:rPr>
              <a:t>4. BENEFICIOS PARA LA ORGANIZACIÓN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"/>
              </a:rPr>
              <a:t>Impacto Operativo &amp; Resultados Medibles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94A3B8"/>
                </a:solidFill>
                <a:latin typeface="Segoe UI"/>
              </a:rPr>
              <a:t>Transformación directa de ineficiencias en métricas tangibles de retorno de inversión (ROI)</a:t>
            </a:r>
          </a:p>
        </p:txBody>
      </p:sp>
      <p:pic>
        <p:nvPicPr>
          <p:cNvPr id="6" name="Picture 5" descr="media_1792686351561_82afeaf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868680" cy="868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719072"/>
            <a:ext cx="3401568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200" b="1">
                <a:solidFill>
                  <a:srgbClr val="00E5FF"/>
                </a:solidFill>
                <a:latin typeface="Segoe UI"/>
              </a:rPr>
              <a:t>-90%</a:t>
            </a:r>
          </a:p>
          <a:p>
            <a:pPr algn="ctr">
              <a:spcAft>
                <a:spcPts val="1600"/>
              </a:spcAft>
            </a:pPr>
            <a:r>
              <a:rPr sz="1300" b="1">
                <a:solidFill>
                  <a:srgbClr val="94A3B8"/>
                </a:solidFill>
                <a:latin typeface="Segoe UI"/>
              </a:rPr>
              <a:t>TIEMPO DE VALIDACIÓN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Validación Instantánea de Pagos</a:t>
            </a:r>
          </a:p>
          <a:p>
            <a:r>
              <a:rPr sz="1200">
                <a:solidFill>
                  <a:srgbClr val="E2E8F0"/>
                </a:solidFill>
                <a:latin typeface="Segoe UI"/>
              </a:rPr>
              <a:t>La confirmación de transferencias bancarias pasó de demorar hasta 4 horas manuales a resolverse en menos de 10 segundos con el Agente OCR Multimodal, eliminando errores de transcripción y cuellos de botella en el despacho.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19072"/>
            <a:ext cx="3401568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200" b="1">
                <a:solidFill>
                  <a:srgbClr val="10B981"/>
                </a:solidFill>
                <a:latin typeface="Segoe UI"/>
              </a:rPr>
              <a:t>+25%</a:t>
            </a:r>
          </a:p>
          <a:p>
            <a:pPr algn="ctr">
              <a:spcAft>
                <a:spcPts val="1600"/>
              </a:spcAft>
            </a:pPr>
            <a:r>
              <a:rPr sz="1300" b="1">
                <a:solidFill>
                  <a:srgbClr val="94A3B8"/>
                </a:solidFill>
                <a:latin typeface="Segoe UI"/>
              </a:rPr>
              <a:t>TASA DE CONVERSIÓN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Priorización por Lead Scoring</a:t>
            </a:r>
          </a:p>
          <a:p>
            <a:r>
              <a:rPr sz="1200">
                <a:solidFill>
                  <a:srgbClr val="E2E8F0"/>
                </a:solidFill>
                <a:latin typeface="Segoe UI"/>
              </a:rPr>
              <a:t>Los asesores comerciales se enfocan de inmediato en los prospectos con score de compra elevado, acortando el ciclo de cierre, reduciendo el costo de adquisición (CAC) y evitando la fuga de clientes calientes.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19072"/>
            <a:ext cx="3401568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200" b="1">
                <a:solidFill>
                  <a:srgbClr val="9D4EDD"/>
                </a:solidFill>
                <a:latin typeface="Segoe UI"/>
              </a:rPr>
              <a:t>10x</a:t>
            </a:r>
          </a:p>
          <a:p>
            <a:pPr algn="ctr">
              <a:spcAft>
                <a:spcPts val="1600"/>
              </a:spcAft>
            </a:pPr>
            <a:r>
              <a:rPr sz="1300" b="1">
                <a:solidFill>
                  <a:srgbClr val="94A3B8"/>
                </a:solidFill>
                <a:latin typeface="Segoe UI"/>
              </a:rPr>
              <a:t>ESCALABILIDAD OPERATIVA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Capacidad Concurrente Sin Costos Fijos</a:t>
            </a:r>
          </a:p>
          <a:p>
            <a:r>
              <a:rPr sz="1200">
                <a:solidFill>
                  <a:srgbClr val="E2E8F0"/>
                </a:solidFill>
                <a:latin typeface="Segoe UI"/>
              </a:rPr>
              <a:t>Capacidad para procesar más de 20.000 conversaciones mensuales en paralelo sin necesidad de sumar personal de atención básico, manteniendo una latencia estricta de 30 a 60 segundos por consulta.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572000" cy="3657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E5FF"/>
                </a:solidFill>
                <a:latin typeface="Segoe UI"/>
              </a:rPr>
              <a:t>5. ROL Y RESPONSABILIDAD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"/>
              </a:rPr>
              <a:t>AI Automation Architect &amp; Lead Data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94A3B8"/>
                </a:solidFill>
                <a:latin typeface="Segoe UI"/>
              </a:rPr>
              <a:t>Liderazgo técnico integral en el diseño, desarrollo, entrenamiento y puesta en producción</a:t>
            </a:r>
          </a:p>
        </p:txBody>
      </p:sp>
      <p:pic>
        <p:nvPicPr>
          <p:cNvPr id="6" name="Picture 5" descr="media_1792686351561_82afeaf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868680" cy="868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719072"/>
            <a:ext cx="3401568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</a:pPr>
            <a:r>
              <a:rPr sz="1700" b="1">
                <a:solidFill>
                  <a:srgbClr val="00E5FF"/>
                </a:solidFill>
                <a:latin typeface="Segoe UI"/>
              </a:rPr>
              <a:t>Arquitectura de Datos End-to-End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FFFFFF"/>
                </a:solidFill>
                <a:latin typeface="Segoe UI"/>
              </a:rPr>
              <a:t>Diseño del Pipeline: </a:t>
            </a:r>
            <a:r>
              <a:rPr sz="1200">
                <a:solidFill>
                  <a:srgbClr val="E2E8F0"/>
                </a:solidFill>
                <a:latin typeface="Segoe UI"/>
              </a:rPr>
              <a:t>Integración en tiempo real entre Meta Cloud API, memoria Redis (buffers anti-colisión) y Supabase PostgreSQL.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FFFFFF"/>
                </a:solidFill>
                <a:latin typeface="Segoe UI"/>
              </a:rPr>
              <a:t>Modelado Relacional: </a:t>
            </a:r>
            <a:r>
              <a:rPr sz="1200">
                <a:solidFill>
                  <a:srgbClr val="E2E8F0"/>
                </a:solidFill>
                <a:latin typeface="Segoe UI"/>
              </a:rPr>
              <a:t>Estructuración de tablas (`n8n_chat_histories`, `supabase_orders`, `supabase_products`) para asegurar trazabilidad e integridad.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FFFFFF"/>
                </a:solidFill>
                <a:latin typeface="Segoe UI"/>
              </a:rPr>
              <a:t>Infraestructura Soberana: </a:t>
            </a:r>
            <a:r>
              <a:rPr sz="1200">
                <a:solidFill>
                  <a:srgbClr val="E2E8F0"/>
                </a:solidFill>
                <a:latin typeface="Segoe UI"/>
              </a:rPr>
              <a:t>Despliegue y administración de contenedores Docker auto-hospedados sobre Easypanel en VPS Hostinger.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19072"/>
            <a:ext cx="3401568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</a:pPr>
            <a:r>
              <a:rPr sz="1700" b="1">
                <a:solidFill>
                  <a:srgbClr val="9D4EDD"/>
                </a:solidFill>
                <a:latin typeface="Segoe UI"/>
              </a:rPr>
              <a:t>Ciencia de Datos Aplicada &amp; ML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FFFFFF"/>
                </a:solidFill>
                <a:latin typeface="Segoe UI"/>
              </a:rPr>
              <a:t>Pipelines ETL: </a:t>
            </a:r>
            <a:r>
              <a:rPr sz="1200">
                <a:solidFill>
                  <a:srgbClr val="E2E8F0"/>
                </a:solidFill>
                <a:latin typeface="Segoe UI"/>
              </a:rPr>
              <a:t>Extracción y limpieza de historiales conversacionales, estructurando variables cuantitativas (recencia, frecuencia, ticket RFM).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FFFFFF"/>
                </a:solidFill>
                <a:latin typeface="Segoe UI"/>
              </a:rPr>
              <a:t>Modelado Predictivo: </a:t>
            </a:r>
            <a:r>
              <a:rPr sz="1200">
                <a:solidFill>
                  <a:srgbClr val="E2E8F0"/>
                </a:solidFill>
                <a:latin typeface="Segoe UI"/>
              </a:rPr>
              <a:t>Entrenamiento, validación cruzada y calibración de algoritmos supervisados (Scikit-Learn/XGBoost) para Lead Scoring y Churn.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FFFFFF"/>
                </a:solidFill>
                <a:latin typeface="Segoe UI"/>
              </a:rPr>
              <a:t>Monitoreo de Calidad: </a:t>
            </a:r>
            <a:r>
              <a:rPr sz="1200">
                <a:solidFill>
                  <a:srgbClr val="E2E8F0"/>
                </a:solidFill>
                <a:latin typeface="Segoe UI"/>
              </a:rPr>
              <a:t>Control de métricas de clasificación (Precision, Recall) y minimización de falsos positivos en el OCR.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19072"/>
            <a:ext cx="3401568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</a:pPr>
            <a:r>
              <a:rPr sz="1700" b="1">
                <a:solidFill>
                  <a:srgbClr val="10B981"/>
                </a:solidFill>
                <a:latin typeface="Segoe UI"/>
              </a:rPr>
              <a:t>Orquestación &amp; Prompt Engineering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FFFFFF"/>
                </a:solidFill>
                <a:latin typeface="Segoe UI"/>
              </a:rPr>
              <a:t>Automatización en n8n: </a:t>
            </a:r>
            <a:r>
              <a:rPr sz="1200">
                <a:solidFill>
                  <a:srgbClr val="E2E8F0"/>
                </a:solidFill>
                <a:latin typeface="Segoe UI"/>
              </a:rPr>
              <a:t>Construcción de webhooks, lógica condicional y derivaciones a microservicios FastAPI en Python.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FFFFFF"/>
                </a:solidFill>
                <a:latin typeface="Segoe UI"/>
              </a:rPr>
              <a:t>Optimización de Tokens: </a:t>
            </a:r>
            <a:r>
              <a:rPr sz="1200">
                <a:solidFill>
                  <a:srgbClr val="E2E8F0"/>
                </a:solidFill>
                <a:latin typeface="Segoe UI"/>
              </a:rPr>
              <a:t>Inyección de contexto en `systemMessage` para reducir hasta un 98% el consumo de tokens frente a cargas convencionales.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FFFFFF"/>
                </a:solidFill>
                <a:latin typeface="Segoe UI"/>
              </a:rPr>
              <a:t>Integración Multicanal: </a:t>
            </a:r>
            <a:r>
              <a:rPr sz="1200">
                <a:solidFill>
                  <a:srgbClr val="E2E8F0"/>
                </a:solidFill>
                <a:latin typeface="Segoe UI"/>
              </a:rPr>
              <a:t>Unificación del backend para WhatsApp, Instagram DMs, Facebook y PWA CRM.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572000" cy="3657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E5FF"/>
                </a:solidFill>
                <a:latin typeface="Segoe UI"/>
              </a:rPr>
              <a:t>6. COMPETENCIAS PROFESIONALES PUESTAS EN PRÁCTICA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"/>
              </a:rPr>
              <a:t>Integración de Hard Skills y Soft Skills del Perfil Profesional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94A3B8"/>
                </a:solidFill>
                <a:latin typeface="Segoe UI"/>
              </a:rPr>
              <a:t>Articulación directa con el plan de estudios de la Tecnicatura Superior en Ciencia de Datos e IA (IFTS Nº 24)</a:t>
            </a:r>
          </a:p>
        </p:txBody>
      </p:sp>
      <p:pic>
        <p:nvPicPr>
          <p:cNvPr id="6" name="Picture 5" descr="media_1792686351561_82afeaf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868680" cy="868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719072"/>
            <a:ext cx="3401568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E5FF"/>
                </a:solidFill>
                <a:latin typeface="Segoe UI"/>
              </a:rPr>
              <a:t>HARD SKILL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  <a:latin typeface="Segoe UI"/>
              </a:rPr>
              <a:t>Competencia Técnica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300" b="1">
                <a:solidFill>
                  <a:srgbClr val="00E5FF"/>
                </a:solidFill>
                <a:latin typeface="Segoe UI"/>
              </a:rPr>
              <a:t>Arquitectura de Datos e Integración de Sistemas de IA</a:t>
            </a:r>
          </a:p>
          <a:p>
            <a:r>
              <a:rPr sz="1200">
                <a:solidFill>
                  <a:srgbClr val="E2E8F0"/>
                </a:solidFill>
                <a:latin typeface="Segoe UI"/>
              </a:rPr>
              <a:t>Capacidad para conceptualizar, diseñar y conectar bases de datos relacionales (PostgreSQL), memoria temporal de alta velocidad (Redis), microservicios en Python y APIs de modelos de lenguaje (LLMs).
• Aplicación en el proyecto:
Construcción de un flujo de datos que opera en milisegundos sin pérdida de contexto ni fallas de concurrencia.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19072"/>
            <a:ext cx="3401568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9D4EDD"/>
                </a:solidFill>
                <a:latin typeface="Segoe UI"/>
              </a:rPr>
              <a:t>HARD SKILL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  <a:latin typeface="Segoe UI"/>
              </a:rPr>
              <a:t>Competencia Analítica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300" b="1">
                <a:solidFill>
                  <a:srgbClr val="9D4EDD"/>
                </a:solidFill>
                <a:latin typeface="Segoe UI"/>
              </a:rPr>
              <a:t>Pensamiento Estadístico y Ciencia de Datos Aplicada</a:t>
            </a:r>
          </a:p>
          <a:p>
            <a:r>
              <a:rPr sz="1200">
                <a:solidFill>
                  <a:srgbClr val="E2E8F0"/>
                </a:solidFill>
                <a:latin typeface="Segoe UI"/>
              </a:rPr>
              <a:t>Dominio de técnicas de Análisis Exploratorio de Datos (EDA), selección rigurosa de características (feature engineering) y evaluación estricta de métricas de Machine Learning (Precision, Recall, Matrices de Confusión).
• Aplicación en el proyecto:
Transformación de historiales conversacionales no estructurados en modelos predictivos de alta precisión comercial.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19072"/>
            <a:ext cx="3401568" cy="4572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0B981"/>
                </a:solidFill>
                <a:latin typeface="Segoe UI"/>
              </a:rPr>
              <a:t>SOFT SKILL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  <a:latin typeface="Segoe UI"/>
              </a:rPr>
              <a:t>Competencia Transversal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300" b="1">
                <a:solidFill>
                  <a:srgbClr val="10B981"/>
                </a:solidFill>
                <a:latin typeface="Segoe UI"/>
              </a:rPr>
              <a:t>Liderazgo Adaptativo, Data Storytelling y Frame Control</a:t>
            </a:r>
          </a:p>
          <a:p>
            <a:r>
              <a:rPr sz="1200">
                <a:solidFill>
                  <a:srgbClr val="E2E8F0"/>
                </a:solidFill>
                <a:latin typeface="Segoe UI"/>
              </a:rPr>
              <a:t>Habilidad para traducir métricas y algoritmos complejos a un lenguaje comercial claro, gestionando las expectativas de dueños de pymes y alineando a equipos de ventas humanos con la IA.
• Aplicación en el proyecto:
Adopción exitosa de las alertas del sistema por parte de los vendedores, superando la resistencia al cambio cultural.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572000" cy="3657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E5FF"/>
                </a:solidFill>
                <a:latin typeface="Segoe UI"/>
              </a:rPr>
              <a:t>7. CONCLUSIONES Y 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"/>
              </a:rPr>
              <a:t>El Valor Estratégico de la Ciencia de Datos en la Pyme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94A3B8"/>
                </a:solidFill>
                <a:latin typeface="Segoe UI"/>
              </a:rPr>
              <a:t>Síntesis del impacto del proyecto y proyección tecnológica</a:t>
            </a:r>
          </a:p>
        </p:txBody>
      </p:sp>
      <p:pic>
        <p:nvPicPr>
          <p:cNvPr id="6" name="Picture 5" descr="media_1792686351561_82afeaf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868680" cy="868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719072"/>
            <a:ext cx="3401568" cy="30175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50" b="1">
                <a:solidFill>
                  <a:srgbClr val="00E5FF"/>
                </a:solidFill>
                <a:latin typeface="Segoe UI"/>
              </a:rPr>
              <a:t>Sinergia de Tecnologías</a:t>
            </a:r>
          </a:p>
          <a:p>
            <a:r>
              <a:rPr sz="1250">
                <a:solidFill>
                  <a:srgbClr val="E2E8F0"/>
                </a:solidFill>
                <a:latin typeface="Segoe UI"/>
              </a:rPr>
              <a:t>La combinación de OCR multimodal, Machine Learning y orquestación en tiempo real demuestra que la Ciencia de Datos tiene un impacto inmediato en el flujo de caja de las pymes, reduciendo costos operativos y multiplicando la conversión.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19072"/>
            <a:ext cx="3401568" cy="30175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50" b="1">
                <a:solidFill>
                  <a:srgbClr val="9D4EDD"/>
                </a:solidFill>
                <a:latin typeface="Segoe UI"/>
              </a:rPr>
              <a:t>Alineación con la Carrera</a:t>
            </a:r>
          </a:p>
          <a:p>
            <a:r>
              <a:rPr sz="1250">
                <a:solidFill>
                  <a:srgbClr val="E2E8F0"/>
                </a:solidFill>
                <a:latin typeface="Segoe UI"/>
              </a:rPr>
              <a:t>El desarrollo del AI-Sales Engine representó la puesta en práctica directa de los contenidos de la Tecnicatura del IFTS Nº 24: bases de datos relacionales, analítica predictiva, evaluación estadística y liderazgo de proyectos tecnológicos.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19072"/>
            <a:ext cx="3401568" cy="30175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50" b="1">
                <a:solidFill>
                  <a:srgbClr val="10B981"/>
                </a:solidFill>
                <a:latin typeface="Segoe UI"/>
              </a:rPr>
              <a:t>Próximos Pasos (Roadmap)</a:t>
            </a:r>
          </a:p>
          <a:p>
            <a:r>
              <a:rPr sz="1250">
                <a:solidFill>
                  <a:srgbClr val="E2E8F0"/>
                </a:solidFill>
                <a:latin typeface="Segoe UI"/>
              </a:rPr>
              <a:t>• Despliegue de modelos de Voice Bots ultra-naturales para canales de voz.
• Integración nativa con la API de MercadoLibre.
• Implementación de monitoreo continuo de data drift sobre las conversaciones.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728655" cy="13716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¡Muchas gracias por su atención! Espacio abierto para preguntas y debate.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94A3B8"/>
                </a:solidFill>
                <a:latin typeface="Segoe UI"/>
              </a:rPr>
              <a:t>Nicolás Marcelo Galarza Vázquez | nicolas.galarza@crocscale.com | https://crocscale.com | IFTS Nº 24 - 2026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